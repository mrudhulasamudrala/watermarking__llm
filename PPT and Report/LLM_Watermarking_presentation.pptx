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AF0F8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CAF0F8"/>
                </a:solidFill>
                <a:latin typeface="Arial"/>
              </a:rPr>
              <a:t>True Positive Rate (%) by Parameters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TPR @ z=4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δ=1.0 γ=0.5</c:v>
                </c:pt>
                <c:pt idx="1">
                  <c:v>δ=2.0 γ=0.5</c:v>
                </c:pt>
                <c:pt idx="2">
                  <c:v>δ=5.0 γ=0.5</c:v>
                </c:pt>
                <c:pt idx="3">
                  <c:v>δ=2.0 γ=0.25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76.7</c:v>
                </c:pt>
                <c:pt idx="1">
                  <c:v>98.4</c:v>
                </c:pt>
                <c:pt idx="2">
                  <c:v>99.6</c:v>
                </c:pt>
                <c:pt idx="3">
                  <c:v>99.4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CC-4FF0-B80B-18713804AE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B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1A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2284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7638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Watermark for Large Language Models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Analysis &amp; Experimental Results Comparison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4572000" cy="3657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Kirchenbauer, Geiping, Wen, Katz, Miers, Goldstein — University of Maryland (2024)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2606040" cy="1463040"/>
          </a:xfrm>
          <a:prstGeom prst="rect">
            <a:avLst/>
          </a:prstGeom>
          <a:solidFill>
            <a:srgbClr val="122848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3291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37490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hidden signals in LLM output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3200400"/>
            <a:ext cx="2606040" cy="1463040"/>
          </a:xfrm>
          <a:prstGeom prst="rect">
            <a:avLst/>
          </a:prstGeom>
          <a:solidFill>
            <a:srgbClr val="122848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37560" y="3291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37560" y="37490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watermarks without model access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200400"/>
            <a:ext cx="2606040" cy="1463040"/>
          </a:xfrm>
          <a:prstGeom prst="rect">
            <a:avLst/>
          </a:prstGeom>
          <a:solidFill>
            <a:srgbClr val="122848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72200" y="3291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72200" y="37490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hypothesis testing framework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498348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arXiv:2301.10226v4  |  May 2024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Watermark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114800"/>
          </a:xfrm>
          <a:prstGeom prst="rect">
            <a:avLst/>
          </a:prstGeom>
          <a:solidFill>
            <a:srgbClr val="122848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Watermark Algorithm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129844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 produces logit vector l(t) over vocabulary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901952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1901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190195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previous token → seed random number generator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505456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25054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2505456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vocab into GREEN LIST (γ|V|) and RED LIST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10896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148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31089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δ to green list logits before softmax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712464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37124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3712464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next token from modified distribution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777240"/>
            <a:ext cx="4114800" cy="1920240"/>
          </a:xfrm>
          <a:prstGeom prst="rect">
            <a:avLst/>
          </a:prstGeom>
          <a:solidFill>
            <a:srgbClr val="122848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5488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(No Model Access Needed)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12344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(|s|G − γT) / √(Tγ(1−γ))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green tokens → compute z-score → compare to threshold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2834640"/>
            <a:ext cx="4114800" cy="2057400"/>
          </a:xfrm>
          <a:prstGeom prst="rect">
            <a:avLst/>
          </a:prstGeom>
          <a:solidFill>
            <a:srgbClr val="122848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0" y="28803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3291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Detectable from as few as 25 tokens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6758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to humans (minimal perplexity impact)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40599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model parameters needed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444398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interpretable p-values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65760" y="498348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Slide 2 of 6  |  LLM Watermarking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Paper's Experimental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OPT-1.3B model  |  500 sequences  |  T = 200 tokens  |  C4 RealNewsLike dataset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60120"/>
          <a:ext cx="4206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960120"/>
            <a:ext cx="2057400" cy="1371600"/>
          </a:xfrm>
          <a:prstGeom prst="rect">
            <a:avLst/>
          </a:prstGeom>
          <a:solidFill>
            <a:srgbClr val="122848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663440" y="10972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663440" y="161848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663440" y="19202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text incorrectly flagged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58000" y="960120"/>
            <a:ext cx="2057400" cy="1371600"/>
          </a:xfrm>
          <a:prstGeom prst="rect">
            <a:avLst/>
          </a:prstGeom>
          <a:solidFill>
            <a:srgbClr val="12284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858000" y="10972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858000" y="161848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(δ=2)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0" y="19202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sampling, 200 tokens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63440" y="2468880"/>
            <a:ext cx="2057400" cy="1371600"/>
          </a:xfrm>
          <a:prstGeom prst="rect">
            <a:avLst/>
          </a:prstGeom>
          <a:solidFill>
            <a:srgbClr val="12284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663440" y="260604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663440" y="312724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(δ=2)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63440" y="342900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8-way beam search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858000" y="2468880"/>
            <a:ext cx="2057400" cy="1371600"/>
          </a:xfrm>
          <a:prstGeom prst="rect">
            <a:avLst/>
          </a:prstGeom>
          <a:solidFill>
            <a:srgbClr val="12284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858000" y="260604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858000" y="312724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Tokens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858000" y="342900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for reliable detection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74320" y="3977640"/>
            <a:ext cx="8595360" cy="777240"/>
          </a:xfrm>
          <a:prstGeom prst="rect">
            <a:avLst/>
          </a:prstGeom>
          <a:solidFill>
            <a:srgbClr val="1A0D0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11480" y="4023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Failure Cases: Low-entropy sequences (data memorization, templated text) are hardest to watermark. z-scores near 0 indicate undetectable output. High-entropy text (news, essays) detects reliably.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365760" y="498348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Slide 3 of 6  |  LLM Watermarking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Experimental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result @ z-score threshold 4.0  |  Text analyzed: 199 tokens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572000" cy="3383280"/>
          </a:xfrm>
          <a:prstGeom prst="rect">
            <a:avLst/>
          </a:prstGeom>
          <a:solidFill>
            <a:srgbClr val="0D0D0D"/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Output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 Counted (T)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1371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Tokens in Greenlist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17373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103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Fraction of T in Greenlist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21031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67.8%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468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z-score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24688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834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p-value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0" y="28346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1.44e-44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32004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z-score Threshold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32004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5661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08960" y="35661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Watermarked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9319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0" y="39319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100.000%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960120"/>
            <a:ext cx="3749040" cy="914400"/>
          </a:xfrm>
          <a:prstGeom prst="rect">
            <a:avLst/>
          </a:prstGeom>
          <a:solidFill>
            <a:srgbClr val="12284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120640" y="960120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257800" y="103327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257800" y="14356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Tokens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1069848"/>
            <a:ext cx="1783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for high-confidence detection (paper: ≥25 needed)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20640" y="1965960"/>
            <a:ext cx="3749040" cy="914400"/>
          </a:xfrm>
          <a:prstGeom prst="rect">
            <a:avLst/>
          </a:prstGeom>
          <a:solidFill>
            <a:srgbClr val="122848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120640" y="1965960"/>
            <a:ext cx="54864" cy="914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257800" y="203911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/ 199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257800" y="24414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Tokens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49440" y="2075688"/>
            <a:ext cx="1783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67.8% in greenlist vs expected 50% — strong signal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20640" y="2971800"/>
            <a:ext cx="3749040" cy="914400"/>
          </a:xfrm>
          <a:prstGeom prst="rect">
            <a:avLst/>
          </a:prstGeom>
          <a:solidFill>
            <a:srgbClr val="122848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120640" y="2971800"/>
            <a:ext cx="54864" cy="914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257800" y="304495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14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257800" y="34472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49440" y="3081528"/>
            <a:ext cx="1783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above threshold of 4.0 — extremely significant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120640" y="3977640"/>
            <a:ext cx="3749040" cy="914400"/>
          </a:xfrm>
          <a:prstGeom prst="rect">
            <a:avLst/>
          </a:prstGeom>
          <a:solidFill>
            <a:srgbClr val="122848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5120640" y="3977640"/>
            <a:ext cx="54864" cy="914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257800" y="405079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1.44e-44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257800" y="445312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49440" y="4087368"/>
            <a:ext cx="1783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zero — near-impossible by random chance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65760" y="498348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Slide 4 of 6  |  LLM Watermarking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148840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4600" y="777240"/>
            <a:ext cx="2697480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560320" y="7772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(OPT-1.3B, δ=2, γ=0.5)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0" y="777240"/>
            <a:ext cx="2240280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349240" y="77724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Result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35240" y="777240"/>
            <a:ext cx="1325880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680960" y="7772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261872"/>
            <a:ext cx="2148840" cy="420624"/>
          </a:xfrm>
          <a:prstGeom prst="rect">
            <a:avLst/>
          </a:prstGeom>
          <a:solidFill>
            <a:srgbClr val="122848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514600" y="1261872"/>
            <a:ext cx="2697480" cy="420624"/>
          </a:xfrm>
          <a:prstGeom prst="rect">
            <a:avLst/>
          </a:prstGeom>
          <a:solidFill>
            <a:srgbClr val="122848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303520" y="1261872"/>
            <a:ext cx="2240280" cy="420624"/>
          </a:xfrm>
          <a:prstGeom prst="rect">
            <a:avLst/>
          </a:prstGeom>
          <a:solidFill>
            <a:srgbClr val="122848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635240" y="1261872"/>
            <a:ext cx="1325880" cy="420624"/>
          </a:xfrm>
          <a:prstGeom prst="rect">
            <a:avLst/>
          </a:prstGeom>
          <a:solidFill>
            <a:srgbClr val="122848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8328" y="1261872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78608" y="1261872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± 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67528" y="1261872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99248" y="1261872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1700784"/>
            <a:ext cx="2148840" cy="420624"/>
          </a:xfrm>
          <a:prstGeom prst="rect">
            <a:avLst/>
          </a:prstGeom>
          <a:solidFill>
            <a:srgbClr val="10204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514600" y="1700784"/>
            <a:ext cx="2697480" cy="420624"/>
          </a:xfrm>
          <a:prstGeom prst="rect">
            <a:avLst/>
          </a:prstGeom>
          <a:solidFill>
            <a:srgbClr val="10204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303520" y="1700784"/>
            <a:ext cx="2240280" cy="420624"/>
          </a:xfrm>
          <a:prstGeom prst="rect">
            <a:avLst/>
          </a:prstGeom>
          <a:solidFill>
            <a:srgbClr val="10204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635240" y="1700784"/>
            <a:ext cx="1325880" cy="420624"/>
          </a:xfrm>
          <a:prstGeom prst="rect">
            <a:avLst/>
          </a:prstGeom>
          <a:solidFill>
            <a:srgbClr val="10204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38328" y="170078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Greenlist Fraction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78608" y="1700784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~65–70% (avg)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67528" y="1700784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699248" y="1700784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139696"/>
            <a:ext cx="2148840" cy="420624"/>
          </a:xfrm>
          <a:prstGeom prst="rect">
            <a:avLst/>
          </a:prstGeom>
          <a:solidFill>
            <a:srgbClr val="122848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514600" y="2139696"/>
            <a:ext cx="2697480" cy="420624"/>
          </a:xfrm>
          <a:prstGeom prst="rect">
            <a:avLst/>
          </a:prstGeom>
          <a:solidFill>
            <a:srgbClr val="122848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303520" y="2139696"/>
            <a:ext cx="2240280" cy="420624"/>
          </a:xfrm>
          <a:prstGeom prst="rect">
            <a:avLst/>
          </a:prstGeom>
          <a:solidFill>
            <a:srgbClr val="122848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635240" y="2139696"/>
            <a:ext cx="1325880" cy="420624"/>
          </a:xfrm>
          <a:prstGeom prst="rect">
            <a:avLst/>
          </a:prstGeom>
          <a:solidFill>
            <a:srgbClr val="122848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38328" y="2139696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578608" y="2139696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~14–16 (avg)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67528" y="2139696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699248" y="2139696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2578608"/>
            <a:ext cx="2148840" cy="420624"/>
          </a:xfrm>
          <a:prstGeom prst="rect">
            <a:avLst/>
          </a:prstGeom>
          <a:solidFill>
            <a:srgbClr val="10204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514600" y="2578608"/>
            <a:ext cx="2697480" cy="420624"/>
          </a:xfrm>
          <a:prstGeom prst="rect">
            <a:avLst/>
          </a:prstGeom>
          <a:solidFill>
            <a:srgbClr val="10204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5303520" y="2578608"/>
            <a:ext cx="2240280" cy="420624"/>
          </a:xfrm>
          <a:prstGeom prst="rect">
            <a:avLst/>
          </a:prstGeom>
          <a:solidFill>
            <a:srgbClr val="10204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635240" y="2578608"/>
            <a:ext cx="1325880" cy="420624"/>
          </a:xfrm>
          <a:prstGeom prst="rect">
            <a:avLst/>
          </a:prstGeom>
          <a:solidFill>
            <a:srgbClr val="10204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38328" y="2578608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578608" y="2578608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10⁻¹⁰ typical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67528" y="2578608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1.44e-44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699248" y="2578608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3017520"/>
            <a:ext cx="2148840" cy="420624"/>
          </a:xfrm>
          <a:prstGeom prst="rect">
            <a:avLst/>
          </a:prstGeom>
          <a:solidFill>
            <a:srgbClr val="122848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514600" y="3017520"/>
            <a:ext cx="2697480" cy="420624"/>
          </a:xfrm>
          <a:prstGeom prst="rect">
            <a:avLst/>
          </a:prstGeom>
          <a:solidFill>
            <a:srgbClr val="122848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5303520" y="3017520"/>
            <a:ext cx="2240280" cy="420624"/>
          </a:xfrm>
          <a:prstGeom prst="rect">
            <a:avLst/>
          </a:prstGeom>
          <a:solidFill>
            <a:srgbClr val="122848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7635240" y="3017520"/>
            <a:ext cx="1325880" cy="420624"/>
          </a:xfrm>
          <a:prstGeom prst="rect">
            <a:avLst/>
          </a:prstGeom>
          <a:solidFill>
            <a:srgbClr val="122848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38328" y="3017520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Z-Threshold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2578608" y="3017520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367528" y="3017520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699248" y="3017520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3456432"/>
            <a:ext cx="2148840" cy="420624"/>
          </a:xfrm>
          <a:prstGeom prst="rect">
            <a:avLst/>
          </a:prstGeom>
          <a:solidFill>
            <a:srgbClr val="10204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514600" y="3456432"/>
            <a:ext cx="2697480" cy="420624"/>
          </a:xfrm>
          <a:prstGeom prst="rect">
            <a:avLst/>
          </a:prstGeom>
          <a:solidFill>
            <a:srgbClr val="10204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5303520" y="3456432"/>
            <a:ext cx="2240280" cy="420624"/>
          </a:xfrm>
          <a:prstGeom prst="rect">
            <a:avLst/>
          </a:prstGeom>
          <a:solidFill>
            <a:srgbClr val="10204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7635240" y="3456432"/>
            <a:ext cx="1325880" cy="420624"/>
          </a:xfrm>
          <a:prstGeom prst="rect">
            <a:avLst/>
          </a:prstGeom>
          <a:solidFill>
            <a:srgbClr val="10204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338328" y="3456432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2578608" y="3456432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Watermarked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367528" y="3456432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Watermarked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7699248" y="3456432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74320" y="3895344"/>
            <a:ext cx="2148840" cy="420624"/>
          </a:xfrm>
          <a:prstGeom prst="rect">
            <a:avLst/>
          </a:prstGeom>
          <a:solidFill>
            <a:srgbClr val="122848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2514600" y="3895344"/>
            <a:ext cx="2697480" cy="420624"/>
          </a:xfrm>
          <a:prstGeom prst="rect">
            <a:avLst/>
          </a:prstGeom>
          <a:solidFill>
            <a:srgbClr val="122848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5303520" y="3895344"/>
            <a:ext cx="2240280" cy="420624"/>
          </a:xfrm>
          <a:prstGeom prst="rect">
            <a:avLst/>
          </a:prstGeom>
          <a:solidFill>
            <a:srgbClr val="122848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7635240" y="3895344"/>
            <a:ext cx="1325880" cy="420624"/>
          </a:xfrm>
          <a:prstGeom prst="rect">
            <a:avLst/>
          </a:prstGeom>
          <a:solidFill>
            <a:srgbClr val="122848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338328" y="389534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2578608" y="3895344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98.4% TPR @ z=4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5367528" y="3895344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100.000%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699248" y="3895344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74320" y="4334256"/>
            <a:ext cx="2148840" cy="420624"/>
          </a:xfrm>
          <a:prstGeom prst="rect">
            <a:avLst/>
          </a:prstGeom>
          <a:solidFill>
            <a:srgbClr val="10204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2514600" y="4334256"/>
            <a:ext cx="2697480" cy="420624"/>
          </a:xfrm>
          <a:prstGeom prst="rect">
            <a:avLst/>
          </a:prstGeom>
          <a:solidFill>
            <a:srgbClr val="10204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5303520" y="4334256"/>
            <a:ext cx="2240280" cy="420624"/>
          </a:xfrm>
          <a:prstGeom prst="rect">
            <a:avLst/>
          </a:prstGeom>
          <a:solidFill>
            <a:srgbClr val="10204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7635240" y="4334256"/>
            <a:ext cx="1325880" cy="420624"/>
          </a:xfrm>
          <a:prstGeom prst="rect">
            <a:avLst/>
          </a:prstGeom>
          <a:solidFill>
            <a:srgbClr val="102040"/>
          </a:solidFill>
          <a:ln w="635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38328" y="4334256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2578608" y="4334256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(paper reports)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5367528" y="4334256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(single)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7699248" y="4334256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0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274320" y="4754880"/>
            <a:ext cx="8595360" cy="182880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365760" y="475488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My results are fully consistent with paper predictions — strong watermark detection confirmed at 100% confidence.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365760" y="498348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Slide 5 of 6  |  LLM Watermarking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Interpretation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3200400"/>
          </a:xfrm>
          <a:prstGeom prst="rect">
            <a:avLst/>
          </a:prstGeom>
          <a:solidFill>
            <a:srgbClr val="12284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My z=14 Means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14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above threshold (4.0) — extremely strong signal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1.44e-44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26771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Vanishingly small — confirms not a false positive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724912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27249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67.8% green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298094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~50% for unwatermarked; 18% excess proves watermark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438144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43814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Conf.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paper's 0% false positive rate claim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777240"/>
            <a:ext cx="4297680" cy="1508760"/>
          </a:xfrm>
          <a:prstGeom prst="rect">
            <a:avLst/>
          </a:prstGeom>
          <a:solidFill>
            <a:srgbClr val="122848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6344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(Paper)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123444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watermark requires changing ~25%+ of tokens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0" y="158191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paraphrase attack degrades quality 3× to remove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3440" y="192938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search strengthens watermark at same quality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2423160"/>
            <a:ext cx="4297680" cy="1554480"/>
          </a:xfrm>
          <a:prstGeom prst="rect">
            <a:avLst/>
          </a:prstGeom>
          <a:solidFill>
            <a:srgbClr val="122848"/>
          </a:solidFill>
          <a:ln w="12700">
            <a:solidFill>
              <a:srgbClr val="F941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63440" y="24688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4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288036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4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Low-entropy text (code, templates) cannot be watermarked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63440" y="322783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4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LLM provider to embed watermark at generation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63440" y="357530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4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attacks (emoji trick) can evade detection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133088"/>
            <a:ext cx="8595360" cy="658368"/>
          </a:xfrm>
          <a:prstGeom prst="rect">
            <a:avLst/>
          </a:prstGeom>
          <a:solidFill>
            <a:srgbClr val="012A1A"/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7200" y="4151376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result (z=14, p=1.44e-44, 100% confidence) validates the paper's core claim — the green-list watermarking scheme reliably and statistically identifies AI-generated text, with my detection far exceeding the z=4 threshold used in the paper.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65760" y="498348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Slide 6 of 6  |  LLM Watermarking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707</Words>
  <Application>Microsoft Office PowerPoint</Application>
  <PresentationFormat>On-screen Show (16:9)</PresentationFormat>
  <Paragraphs>146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Watermarking - Paper vs My Results</dc:title>
  <dc:subject>PptxGenJS Presentation</dc:subject>
  <dc:creator>PptxGenJS</dc:creator>
  <cp:lastModifiedBy>Samudrala Mrudhula</cp:lastModifiedBy>
  <cp:revision>2</cp:revision>
  <dcterms:created xsi:type="dcterms:W3CDTF">2026-05-09T10:47:31Z</dcterms:created>
  <dcterms:modified xsi:type="dcterms:W3CDTF">2026-05-10T11:36:19Z</dcterms:modified>
</cp:coreProperties>
</file>